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ONETA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7395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9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ORIONETA  |  EFT DEVOPS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881360" y="647395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089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ISY1101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orioneta.accesscam.org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orioneta.accesscam.org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orion/Proyectos/Orioneta-Backend/docs/eft/evidencias/frontend-produc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619963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89320" y="0"/>
            <a:ext cx="6199632" cy="6858000"/>
          </a:xfrm>
          <a:prstGeom prst="rect">
            <a:avLst/>
          </a:prstGeom>
          <a:solidFill>
            <a:srgbClr val="0B1020">
              <a:alpha val="58000"/>
            </a:srgbClr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1430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5CF6"/>
                </a:solidFill>
              </a:rPr>
              <a:t>ORIONETA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85800" y="187452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</a:rPr>
              <a:t>CI/CD y despliegue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</a:rPr>
              <a:t>en Amazon EKS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13232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B0C7"/>
                </a:solidFill>
              </a:rPr>
              <a:t>Evaluacion Final Transversal  |  ISY1101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13232" y="4069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8FAFC"/>
                </a:solidFill>
              </a:rPr>
              <a:t>Leandro Pedraza  /  Juan [completar apellido]</a:t>
            </a:r>
            <a:endParaRPr lang="en-US" sz="13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713232" y="45902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u="sng" dirty="0">
                <a:solidFill>
                  <a:srgbClr val="38BDF8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https://orioneta.accesscam.org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y alcance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Del commit a una aplicacion accesible por HTTPS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303520" cy="4297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301625" indent="-301625">
              <a:buSzPct val="100000"/>
              <a:buChar char="•"/>
            </a:pPr>
            <a:r>
              <a:rPr lang="en-US" sz="1900" dirty="0">
                <a:solidFill>
                  <a:srgbClr val="F8FAFC"/>
                </a:solidFill>
              </a:rPr>
              <a:t>Automatizar build, pruebas, imagenes y despliegue.</a:t>
            </a:r>
            <a:endParaRPr lang="en-US" sz="1900" dirty="0"/>
          </a:p>
          <a:p>
            <a:pPr marL="301625" indent="-301625">
              <a:buSzPct val="100000"/>
              <a:buChar char="•"/>
            </a:pPr>
            <a:r>
              <a:rPr lang="en-US" sz="1900" dirty="0">
                <a:solidFill>
                  <a:srgbClr val="F8FAFC"/>
                </a:solidFill>
              </a:rPr>
              <a:t>Integrar frontend, 14 microservicios y datos relacionales.</a:t>
            </a:r>
            <a:endParaRPr lang="en-US" sz="1900" dirty="0"/>
          </a:p>
          <a:p>
            <a:pPr marL="301625" indent="-301625">
              <a:buSzPct val="100000"/>
              <a:buChar char="•"/>
            </a:pPr>
            <a:r>
              <a:rPr lang="en-US" sz="1900" dirty="0">
                <a:solidFill>
                  <a:srgbClr val="F8FAFC"/>
                </a:solidFill>
              </a:rPr>
              <a:t>Ejecutar todos los componentes en contenedores.</a:t>
            </a:r>
            <a:endParaRPr lang="en-US" sz="1900" dirty="0"/>
          </a:p>
          <a:p>
            <a:pPr marL="301625" indent="-301625">
              <a:buSzPct val="100000"/>
              <a:buChar char="•"/>
            </a:pPr>
            <a:r>
              <a:rPr lang="en-US" sz="1900" dirty="0">
                <a:solidFill>
                  <a:srgbClr val="F8FAFC"/>
                </a:solidFill>
              </a:rPr>
              <a:t>Orquestar produccion con Amazon EKS.</a:t>
            </a:r>
            <a:endParaRPr lang="en-US" sz="1900" dirty="0"/>
          </a:p>
          <a:p>
            <a:pPr marL="301625" indent="-301625">
              <a:buSzPct val="100000"/>
              <a:buChar char="•"/>
            </a:pPr>
            <a:r>
              <a:rPr lang="en-US" sz="1900" dirty="0">
                <a:solidFill>
                  <a:srgbClr val="F8FAFC"/>
                </a:solidFill>
              </a:rPr>
              <a:t>Evidenciar seguridad, logs, metricas y trazabilidad.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0" y="1417320"/>
            <a:ext cx="4892040" cy="1280160"/>
          </a:xfrm>
          <a:prstGeom prst="roundRect">
            <a:avLst>
              <a:gd name="adj" fmla="val 4286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417320"/>
            <a:ext cx="54864" cy="12801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11112" y="1563624"/>
            <a:ext cx="4544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Resultado verificable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11112" y="1911096"/>
            <a:ext cx="454456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Frontend 200 OK, Gateway UP, OAuth disponible, WebSocket WSS y 14/14 Deployments listos.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2926080"/>
            <a:ext cx="4892040" cy="1508760"/>
          </a:xfrm>
          <a:prstGeom prst="roundRect">
            <a:avLst>
              <a:gd name="adj" fmla="val 3636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2926080"/>
            <a:ext cx="54864" cy="1508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11112" y="3072384"/>
            <a:ext cx="4544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Tecnologias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11112" y="3419856"/>
            <a:ext cx="454456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React 19, Vite 8, Java 25, Spring Boot, Maven, PostgreSQL, RabbitMQ, Redis, MinIO, Docker, Kubernetes y AWS.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4663440"/>
            <a:ext cx="4892040" cy="1143000"/>
          </a:xfrm>
          <a:prstGeom prst="roundRect">
            <a:avLst>
              <a:gd name="adj" fmla="val 4800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4663440"/>
            <a:ext cx="54864" cy="1143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11112" y="4809744"/>
            <a:ext cx="4544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Repositorios publicos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11112" y="5157216"/>
            <a:ext cx="45445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Backend: OrionTheProgrammer/Orioneta-Backend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Frontend: Panditax727/Orioneta-Frontend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Rama productiva: main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Arquitectura desplegada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Separacion entre acceso publico y servicios internos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115568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/home/orion/Proyectos/Orioneta-Backend/docs/eft/arquitectura-desplie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81328"/>
            <a:ext cx="10789920" cy="32186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983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</a:rPr>
              <a:t>Dynu + Caddy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017520" y="4983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EC2 frontend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212080" y="4983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</a:rPr>
              <a:t>NLB + Gateway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06640" y="4983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EKS privado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509760" y="4983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F4444"/>
                </a:solidFill>
              </a:rPr>
              <a:t>EBS + datos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Como se integra el sistema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Cada tecnologia resuelve un tipo de comunicacion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3520440" cy="1828800"/>
          </a:xfrm>
          <a:prstGeom prst="roundRect">
            <a:avLst>
              <a:gd name="adj" fmla="val 3000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4864" cy="18288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7218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HTTPS same-origin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819656"/>
            <a:ext cx="317296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Caddy entrega React y reenvia /api, /oauth2 y /ws. El navegador utiliza un unico dominio y evita CORS innecesario.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1828800"/>
          </a:xfrm>
          <a:prstGeom prst="roundRect">
            <a:avLst>
              <a:gd name="adj" fmla="val 3000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325880"/>
            <a:ext cx="54864" cy="18288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47218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REST + BFF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53712" y="1819656"/>
            <a:ext cx="317296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Gateway centraliza la entrada. El BFF compone datos y los servicios se resuelven por DNS interno de Kubernetes.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1325880"/>
            <a:ext cx="3520440" cy="1828800"/>
          </a:xfrm>
          <a:prstGeom prst="roundRect">
            <a:avLst>
              <a:gd name="adj" fmla="val 3000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325880"/>
            <a:ext cx="54864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57032" y="147218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Eventos + realtime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57032" y="1819656"/>
            <a:ext cx="317296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RabbitMQ desacopla mensajes y notificaciones. WebSocket entrega eventos; Redis mantiene presencia.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429000"/>
            <a:ext cx="54864" cy="1600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357530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PostgreSQL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0392" y="3922776"/>
            <a:ext cx="317296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Un motor compartido en el laboratorio con una base logica por servicio para evitar acceso cruzado a tablas.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342900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43400" y="3429000"/>
            <a:ext cx="54864" cy="1600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53712" y="357530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MinIO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53712" y="3922776"/>
            <a:ext cx="317296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Los objetos multimedia se almacenan fuera de la base; media-service conserva metadatos y autorizacion.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3429000"/>
            <a:ext cx="3520440" cy="1600200"/>
          </a:xfrm>
          <a:prstGeom prst="roundRect">
            <a:avLst>
              <a:gd name="adj" fmla="val 3429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3429000"/>
            <a:ext cx="54864" cy="1600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57032" y="3575304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JWT propio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57032" y="3922776"/>
            <a:ext cx="317296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Google y GitHub validan identidad, pero auth-service emite el token interno usado por Orioneta.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Contenedores y entorno local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Imagenes pequenas, reproducibles y sin privilegios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3429000" cy="3337560"/>
          </a:xfrm>
          <a:prstGeom prst="roundRect">
            <a:avLst>
              <a:gd name="adj" fmla="val 1644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4864" cy="33375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72184"/>
            <a:ext cx="3081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Backend Java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819656"/>
            <a:ext cx="3081528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Dos etapas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JRE 25 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Usuario orioneta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Solo JAR y puerto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.dockerignore reducido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325880"/>
            <a:ext cx="3429000" cy="3337560"/>
          </a:xfrm>
          <a:prstGeom prst="roundRect">
            <a:avLst>
              <a:gd name="adj" fmla="val 1644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89120" y="1325880"/>
            <a:ext cx="54864" cy="3337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472184"/>
            <a:ext cx="3081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Frontend React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1819656"/>
            <a:ext cx="3081528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Node 22 Alpine compila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Nginx Alpine sirve dist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Healthcheck /health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Sin dependencias de desarrollo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429000" cy="3337560"/>
          </a:xfrm>
          <a:prstGeom prst="roundRect">
            <a:avLst>
              <a:gd name="adj" fmla="val 1644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325880"/>
            <a:ext cx="54864" cy="33375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48472" y="1472184"/>
            <a:ext cx="3081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Docker Compose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48472" y="1819656"/>
            <a:ext cx="3081528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Infraestructura para IDE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Pila completa con perfiles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Frontend + Caddy + API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Volumenes persistentes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localhost:5173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5074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B0C7"/>
                </a:solidFill>
              </a:rPr>
              <a:t>Perfiles: messaging  |  realtime  |  customization  |  media  |  market  |  audit  |  observability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CI/CD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Automatizado desde main y trazable por SHA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1115568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/home/orion/Proyectos/Orioneta-Backend/docs/eft/pipeline-ci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27048"/>
            <a:ext cx="10835640" cy="1655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3520440"/>
            <a:ext cx="5257800" cy="1508760"/>
          </a:xfrm>
          <a:prstGeom prst="roundRect">
            <a:avLst>
              <a:gd name="adj" fmla="val 3636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3520440"/>
            <a:ext cx="54864" cy="150876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41832" y="3666744"/>
            <a:ext cx="4910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Backend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41832" y="4014216"/>
            <a:ext cx="4910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Deteccion de cambios -&gt; Maven verify -&gt; Docker Hub -&gt; Kustomize -&gt; rollout EKS.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17920" y="3520440"/>
            <a:ext cx="5257800" cy="1508760"/>
          </a:xfrm>
          <a:prstGeom prst="roundRect">
            <a:avLst>
              <a:gd name="adj" fmla="val 3636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0" y="3520440"/>
            <a:ext cx="54864" cy="1508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28232" y="3666744"/>
            <a:ext cx="4910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Frontend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28232" y="4014216"/>
            <a:ext cx="4910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Build Vite -&gt; Docker Hub -&gt; SSH temporal -&gt; EC2/Caddy -&gt; healthcheck -&gt; revocar acceso.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14400" y="53492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B0C7"/>
                </a:solidFill>
              </a:rPr>
              <a:t>Tags: latest + sha  |  Secretos enmascarados  |  Concurrency evita despliegues superpuestos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Infraestructura AWS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Red segmentada y backend orquestado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4864" cy="18288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7218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VPC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819656"/>
            <a:ext cx="303580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10.42.0.0/16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2 zonas de disponibilidad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2 subredes publicas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2 subredes privadas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07408" y="132588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07408" y="1325880"/>
            <a:ext cx="54864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147218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Frontend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17720" y="1819656"/>
            <a:ext cx="303580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EC2 t3.small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Amazon Linux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Caddy + Nginx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80/443 publicos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74736" y="1325880"/>
            <a:ext cx="3383280" cy="1828800"/>
          </a:xfrm>
          <a:prstGeom prst="roundRect">
            <a:avLst>
              <a:gd name="adj" fmla="val 3000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74736" y="1325880"/>
            <a:ext cx="54864" cy="1828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5048" y="147218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Backend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85048" y="1819656"/>
            <a:ext cx="303580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EKS 1.36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NLB internet-facing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14 Deployments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Services ClusterIP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474720"/>
            <a:ext cx="3383280" cy="1508760"/>
          </a:xfrm>
          <a:prstGeom prst="roundRect">
            <a:avLst>
              <a:gd name="adj" fmla="val 3636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474720"/>
            <a:ext cx="54864" cy="15087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36210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Persistencia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0392" y="3968496"/>
            <a:ext cx="30358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PVC con EBS gp3 cifrado para PostgreSQL, RabbitMQ, Redis y MinIO.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07408" y="3474720"/>
            <a:ext cx="3383280" cy="1508760"/>
          </a:xfrm>
          <a:prstGeom prst="roundRect">
            <a:avLst>
              <a:gd name="adj" fmla="val 3636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07408" y="3474720"/>
            <a:ext cx="54864" cy="1508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36210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Alta disponibilidad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17720" y="3968496"/>
            <a:ext cx="30358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Subredes en us-east-1a y us-east-1b. El NLB distribuye entrada al Gateway.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74736" y="3474720"/>
            <a:ext cx="3383280" cy="1508760"/>
          </a:xfrm>
          <a:prstGeom prst="roundRect">
            <a:avLst>
              <a:gd name="adj" fmla="val 3636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74736" y="3474720"/>
            <a:ext cx="54864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5048" y="3621024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Costos del laboratorio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85048" y="3968496"/>
            <a:ext cx="30358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Una replica por servicio. La arquitectura permite HPA y mas replicas al crecer.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Seguridad y secretos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Capas de control desde GitHub hasta el contenedor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557784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269875" indent="-269875">
              <a:buSzPct val="100000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HTTPS automatico con Caddy.</a:t>
            </a:r>
            <a:endParaRPr lang="en-US" sz="1700" dirty="0"/>
          </a:p>
          <a:p>
            <a:pPr marL="269875" indent="-269875">
              <a:buSzPct val="100000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JWT interno y Resource Server.</a:t>
            </a:r>
            <a:endParaRPr lang="en-US" sz="1700" dirty="0"/>
          </a:p>
          <a:p>
            <a:pPr marL="269875" indent="-269875">
              <a:buSzPct val="100000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GitHub Secrets -&gt; Kubernetes Secret.</a:t>
            </a:r>
            <a:endParaRPr lang="en-US" sz="1700" dirty="0"/>
          </a:p>
          <a:p>
            <a:pPr marL="269875" indent="-269875">
              <a:buSzPct val="100000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Servicios de datos sin exposicion publica.</a:t>
            </a:r>
            <a:endParaRPr lang="en-US" sz="1700" dirty="0"/>
          </a:p>
          <a:p>
            <a:pPr marL="269875" indent="-269875">
              <a:buSzPct val="100000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SSH abierto solo para la IP efimera del runner.</a:t>
            </a:r>
            <a:endParaRPr lang="en-US" sz="1700" dirty="0"/>
          </a:p>
          <a:p>
            <a:pPr marL="269875" indent="-269875">
              <a:buSzPct val="100000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Imagenes Alpine y usuario Java sin root.</a:t>
            </a:r>
            <a:endParaRPr lang="en-US" sz="1700" dirty="0"/>
          </a:p>
          <a:p>
            <a:pPr marL="269875" indent="-269875">
              <a:buSzPct val="100000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Mejora: OIDC, Trivy, NetworkPolicy y Secrets Manager.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537960" y="1508760"/>
            <a:ext cx="4800600" cy="1554480"/>
          </a:xfrm>
          <a:prstGeom prst="roundRect">
            <a:avLst>
              <a:gd name="adj" fmla="val 3529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37960" y="1508760"/>
            <a:ext cx="54864" cy="1554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48272" y="1655064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Principio de minimo privilegio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48272" y="2002536"/>
            <a:ext cx="44531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El pipeline solo necesita publicar imagenes, autenticarse en EKS y actualizar recursos. Los secretos nunca se escriben en Git.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37960" y="3337560"/>
            <a:ext cx="4800600" cy="1417320"/>
          </a:xfrm>
          <a:prstGeom prst="roundRect">
            <a:avLst>
              <a:gd name="adj" fmla="val 3871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3337560"/>
            <a:ext cx="54864" cy="14173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48272" y="3483864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Superficie publica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48272" y="3831336"/>
            <a:ext cx="44531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EC2: 80/443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EKS: Gateway por NLB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Interno: bases, brokers y microservicios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5029200"/>
            <a:ext cx="4800600" cy="868680"/>
          </a:xfrm>
          <a:prstGeom prst="roundRect">
            <a:avLst>
              <a:gd name="adj" fmla="val 6316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37960" y="5029200"/>
            <a:ext cx="54864" cy="8686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48272" y="5175504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Credenciales academicas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748272" y="5522976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AWS Academy usa sesiones temporales. En una cuenta permanente se reemplazan por GitHub OIDC.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Pruebas y observabilidad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Calidad antes del deploy y salud despues del rollout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2514600" cy="1554480"/>
          </a:xfrm>
          <a:prstGeom prst="roundRect">
            <a:avLst>
              <a:gd name="adj" fmla="val 3529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54864" cy="1554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72184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68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1819656"/>
            <a:ext cx="21671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pruebas backend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0 fallos / 0 errores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325880"/>
            <a:ext cx="2514600" cy="1554480"/>
          </a:xfrm>
          <a:prstGeom prst="roundRect">
            <a:avLst>
              <a:gd name="adj" fmla="val 3529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325880"/>
            <a:ext cx="54864" cy="1554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1472184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37,11%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93592" y="1819656"/>
            <a:ext cx="21671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cobertura de instrucciones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JaCoCo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325880"/>
            <a:ext cx="2514600" cy="1554480"/>
          </a:xfrm>
          <a:prstGeom prst="roundRect">
            <a:avLst>
              <a:gd name="adj" fmla="val 3529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325880"/>
            <a:ext cx="54864" cy="1554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6792" y="1472184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14/14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36792" y="1819656"/>
            <a:ext cx="21671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Deployments disponibles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0 reinicios observados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69680" y="1325880"/>
            <a:ext cx="2514600" cy="1554480"/>
          </a:xfrm>
          <a:prstGeom prst="roundRect">
            <a:avLst>
              <a:gd name="adj" fmla="val 3529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69680" y="1325880"/>
            <a:ext cx="54864" cy="1554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79992" y="1472184"/>
            <a:ext cx="2167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UP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079992" y="1819656"/>
            <a:ext cx="21671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Gateway readiness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HTTPS y WSS activos</a:t>
            </a:r>
            <a:endParaRPr lang="en-US" sz="1100" dirty="0"/>
          </a:p>
        </p:txBody>
      </p:sp>
      <p:pic>
        <p:nvPicPr>
          <p:cNvPr id="20" name="Image 0" descr="/home/orion/Proyectos/Orioneta-Backend/docs/eft/evidencias/cloudw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37560"/>
            <a:ext cx="5166360" cy="1911096"/>
          </a:xfrm>
          <a:prstGeom prst="rect">
            <a:avLst/>
          </a:prstGeom>
        </p:spPr>
      </p:pic>
      <p:pic>
        <p:nvPicPr>
          <p:cNvPr id="21" name="Image 1" descr="/home/orion/Proyectos/Orioneta-Backend/docs/eft/evidencias/kuberne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3127248"/>
            <a:ext cx="5074920" cy="28437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Evidencia de automatizacion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Dos repositorios, dos pipelines, una version productiva</a:t>
            </a:r>
            <a:endParaRPr lang="en-US" sz="1100" dirty="0"/>
          </a:p>
        </p:txBody>
      </p:sp>
      <p:pic>
        <p:nvPicPr>
          <p:cNvPr id="4" name="Image 0" descr="/home/orion/Proyectos/Orioneta-Backend/docs/eft/evidencias/github-actions-bac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5577840" cy="3364992"/>
          </a:xfrm>
          <a:prstGeom prst="rect">
            <a:avLst/>
          </a:prstGeom>
        </p:spPr>
      </p:pic>
      <p:pic>
        <p:nvPicPr>
          <p:cNvPr id="5" name="Image 1" descr="/home/orion/Proyectos/Orioneta-Backend/docs/eft/evidencias/github-actions-front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234440"/>
            <a:ext cx="5486400" cy="41605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77240" y="4892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C55E"/>
                </a:solidFill>
              </a:rPr>
              <a:t>Backend: test + imagenes + EKS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492240" y="5532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BDF8"/>
                </a:solidFill>
              </a:rPr>
              <a:t>Frontend: imagen + EC2 + Caddy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Demostracion en vivo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Recorrido de 2 minutos</a:t>
            </a:r>
            <a:endParaRPr lang="en-US" sz="1100" dirty="0"/>
          </a:p>
        </p:txBody>
      </p:sp>
      <p:pic>
        <p:nvPicPr>
          <p:cNvPr id="4" name="Image 0" descr="/home/orion/Proyectos/Orioneta-Backend/docs/eft/evidencias/frontend-produc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629400" cy="41422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35240" y="1325880"/>
            <a:ext cx="438912" cy="43891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35240" y="1389888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136245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HTTPS y acceso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635240" y="2185416"/>
            <a:ext cx="438912" cy="43891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2249424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75320" y="22219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Login y chat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635240" y="3044952"/>
            <a:ext cx="438912" cy="43891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35240" y="3108960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75320" y="308152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Actions exitosas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635240" y="3904488"/>
            <a:ext cx="438912" cy="43891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35240" y="3968496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75320" y="39410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kubectl: pods y services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635240" y="4764024"/>
            <a:ext cx="438912" cy="43891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35240" y="4828032"/>
            <a:ext cx="438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275320" y="48006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FAFC"/>
                </a:solidFill>
              </a:rPr>
              <a:t>CloudWatch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7635240" y="5669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B0C7"/>
                </a:solidFill>
              </a:rPr>
              <a:t>Plan B: capturas y enlaces del informe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8595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Automatizacion reproducible, trazable y escalable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5486400" cy="4389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285750" indent="-28575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</a:rPr>
              <a:t>Cada cambio validado produce un artefacto identificable.</a:t>
            </a:r>
            <a:endParaRPr lang="en-US" sz="1800" dirty="0"/>
          </a:p>
          <a:p>
            <a:pPr marL="285750" indent="-28575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</a:rPr>
              <a:t>EKS reemplaza operacion manual por estado declarativo.</a:t>
            </a:r>
            <a:endParaRPr lang="en-US" sz="1800" dirty="0"/>
          </a:p>
          <a:p>
            <a:pPr marL="285750" indent="-28575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</a:rPr>
              <a:t>La red limita la exposicion a los puntos necesarios.</a:t>
            </a:r>
            <a:endParaRPr lang="en-US" sz="1800" dirty="0"/>
          </a:p>
          <a:p>
            <a:pPr marL="285750" indent="-28575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</a:rPr>
              <a:t>Actuator, Actions y CloudWatch entregan evidencia operativa.</a:t>
            </a:r>
            <a:endParaRPr lang="en-US" sz="1800" dirty="0"/>
          </a:p>
          <a:p>
            <a:pPr marL="285750" indent="-285750">
              <a:buSzPct val="100000"/>
              <a:buChar char="•"/>
            </a:pPr>
            <a:r>
              <a:rPr lang="en-US" sz="1800" dirty="0">
                <a:solidFill>
                  <a:srgbClr val="F8FAFC"/>
                </a:solidFill>
              </a:rPr>
              <a:t>La solucion esta preparada para HPA y servicios administrados.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29400" y="1417320"/>
            <a:ext cx="4572000" cy="2423160"/>
          </a:xfrm>
          <a:prstGeom prst="roundRect">
            <a:avLst>
              <a:gd name="adj" fmla="val 2264"/>
            </a:avLst>
          </a:prstGeom>
          <a:solidFill>
            <a:srgbClr val="151B2D"/>
          </a:solidFill>
          <a:ln w="12700">
            <a:solidFill>
              <a:srgbClr val="2B35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29400" y="1417320"/>
            <a:ext cx="54864" cy="24231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39712" y="1563624"/>
            <a:ext cx="4224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</a:rPr>
              <a:t>Proximos pasos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39712" y="1911096"/>
            <a:ext cx="42245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GitHub OIDC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Escaneo Trivy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Container Insights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HPA y pruebas de carga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8B0C7"/>
                </a:solidFill>
              </a:rPr>
              <a:t>RDS + S3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29400" y="4343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8FAFC"/>
                </a:solidFill>
              </a:rPr>
              <a:t>Preguntas</a:t>
            </a:r>
            <a:endParaRPr lang="en-US" sz="34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6629400" y="5166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u="sng" dirty="0">
                <a:solidFill>
                  <a:srgbClr val="38BDF8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https://orioneta.accesscam.org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9184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89A6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Orioneta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Orioneta - CI/CD y Amazon EKS</dc:title>
  <dc:subject>Evaluacion Final Transversal ISY1101</dc:subject>
  <dc:creator>Orioneta Team</dc:creator>
  <cp:lastModifiedBy>Orioneta Team</cp:lastModifiedBy>
  <cp:revision>1</cp:revision>
  <dcterms:created xsi:type="dcterms:W3CDTF">2026-06-22T00:37:58Z</dcterms:created>
  <dcterms:modified xsi:type="dcterms:W3CDTF">2026-06-22T00:37:58Z</dcterms:modified>
</cp:coreProperties>
</file>